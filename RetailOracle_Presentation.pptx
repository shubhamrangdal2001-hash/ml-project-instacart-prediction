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Orders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600905</c:v>
                </c:pt>
                <c:pt idx="1">
                  <c:v>587478</c:v>
                </c:pt>
                <c:pt idx="2">
                  <c:v>467260</c:v>
                </c:pt>
                <c:pt idx="3">
                  <c:v>436972</c:v>
                </c:pt>
                <c:pt idx="4">
                  <c:v>426339</c:v>
                </c:pt>
                <c:pt idx="5">
                  <c:v>453368</c:v>
                </c:pt>
                <c:pt idx="6">
                  <c:v>448761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Top Departments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94D2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Produce</c:v>
                  </c:pt>
                  <c:pt idx="1">
                    <c:v>Dairy/Eggs</c:v>
                  </c:pt>
                  <c:pt idx="2">
                    <c:v>Snacks</c:v>
                  </c:pt>
                  <c:pt idx="3">
                    <c:v>Beverages</c:v>
                  </c:pt>
                  <c:pt idx="4">
                    <c:v>Frozen</c:v>
                  </c:pt>
                  <c:pt idx="5">
                    <c:v>Pantry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409087</c:v>
                </c:pt>
                <c:pt idx="1">
                  <c:v>217051</c:v>
                </c:pt>
                <c:pt idx="2">
                  <c:v>118862</c:v>
                </c:pt>
                <c:pt idx="3">
                  <c:v>114046</c:v>
                </c:pt>
                <c:pt idx="4">
                  <c:v>100426</c:v>
                </c:pt>
                <c:pt idx="5">
                  <c:v>81242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320040" cy="514350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6400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82880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 |  April 11, 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8600" y="2697480"/>
            <a:ext cx="2788920" cy="310896"/>
          </a:xfrm>
          <a:prstGeom prst="rect">
            <a:avLst/>
          </a:prstGeom>
          <a:solidFill>
            <a:srgbClr val="0C7076"/>
          </a:solidFill>
          <a:ln w="12700">
            <a:solidFill>
              <a:srgbClr val="0C70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26974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Lead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8600" y="3118104"/>
            <a:ext cx="2788920" cy="310896"/>
          </a:xfrm>
          <a:prstGeom prst="rect">
            <a:avLst/>
          </a:prstGeom>
          <a:solidFill>
            <a:srgbClr val="0C7076"/>
          </a:solidFill>
          <a:ln w="12700">
            <a:solidFill>
              <a:srgbClr val="0C70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311810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Lead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" y="3538728"/>
            <a:ext cx="2788920" cy="310896"/>
          </a:xfrm>
          <a:prstGeom prst="rect">
            <a:avLst/>
          </a:prstGeom>
          <a:solidFill>
            <a:srgbClr val="0C7076"/>
          </a:solidFill>
          <a:ln w="12700">
            <a:solidFill>
              <a:srgbClr val="0C70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35387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Lead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28600" y="3959352"/>
            <a:ext cx="2788920" cy="310896"/>
          </a:xfrm>
          <a:prstGeom prst="rect">
            <a:avLst/>
          </a:prstGeom>
          <a:solidFill>
            <a:srgbClr val="0C7076"/>
          </a:solidFill>
          <a:ln w="12700">
            <a:solidFill>
              <a:srgbClr val="0C70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39593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Lead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28600" y="4379976"/>
            <a:ext cx="2788920" cy="310896"/>
          </a:xfrm>
          <a:prstGeom prst="rect">
            <a:avLst/>
          </a:prstGeom>
          <a:solidFill>
            <a:srgbClr val="0C7076"/>
          </a:solidFill>
          <a:ln w="12700">
            <a:solidFill>
              <a:srgbClr val="0C70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437997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&amp; Docs Lead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749040" y="640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</a:t>
            </a:r>
            <a:endParaRPr lang="en-US" sz="5200" dirty="0"/>
          </a:p>
        </p:txBody>
      </p:sp>
      <p:sp>
        <p:nvSpPr>
          <p:cNvPr id="18" name="Text 15"/>
          <p:cNvSpPr/>
          <p:nvPr/>
        </p:nvSpPr>
        <p:spPr>
          <a:xfrm>
            <a:off x="3749040" y="1508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Cart Intelligence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3749040" y="2084832"/>
            <a:ext cx="507492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49040" y="22402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reorders using machine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Instacart Market Basket dataset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749040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374904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0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206K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02920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9360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49.7K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30936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589520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59.9%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58952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20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247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1508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User Journey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64008" cy="9601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13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" y="2697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Key Insights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29000"/>
            <a:ext cx="64008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502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3886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Challenges &amp; Edge Cases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64008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1247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56048" y="1508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 (HLD)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240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40280"/>
            <a:ext cx="64008" cy="9601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313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56048" y="2697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 (LLD Draft)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3429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42900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502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56048" y="3886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 &amp; Demo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 and why does it matter?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3566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8288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Users must manually re-select frequently bought items every order — creating friction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5603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Retailers cannot anticipate demand at the individual user level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2918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Missed reorder suggestions = lost revenue + poor UX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4206240" cy="356616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234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46320" y="18288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Conversion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46320" y="20848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cart = higher checkout rate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46320" y="24871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Friction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46320" y="27432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spend less time re-adding items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46320" y="31455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Inventory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46320" y="340156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restocking needs per user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46320" y="38039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Revenue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46320" y="40599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promotions on likely reorders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&amp; Target Variable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prediction fits into the retail experience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645920" cy="1371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21408" y="146304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645920" cy="1371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430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16642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'Buy Again'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70248" y="146304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645920" cy="1371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430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16642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predicted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to cart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146304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1645920" cy="1371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1430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16642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out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basket value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43200"/>
            <a:ext cx="64008" cy="1920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34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Variable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reordered  →  Binary (0 / 1)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(user, product) pair seen in prior orders: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user reorder this product in their NEXT order?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74320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743200"/>
            <a:ext cx="64008" cy="19202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834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Business KPIs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32735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Precision@K  — Quality of suggestions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83480" y="36941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Recall@K  — Coverage of reorders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83480" y="4114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F1 Score  — Balanced accuracy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Market Basket — 5 interconnected tables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08760" cy="118872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1508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42846"/>
            <a:ext cx="15087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508760" cy="118872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78992"/>
            <a:ext cx="1508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11680" y="1742846"/>
            <a:ext cx="15087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1508760" cy="118872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078992"/>
            <a:ext cx="1508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49040" y="1742846"/>
            <a:ext cx="15087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005840"/>
            <a:ext cx="1508760" cy="118872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078992"/>
            <a:ext cx="1508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486400" y="1742846"/>
            <a:ext cx="15087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1005840"/>
            <a:ext cx="1508760" cy="118872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078992"/>
            <a:ext cx="15087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223760" y="1742846"/>
            <a:ext cx="15087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395728"/>
            <a:ext cx="8595360" cy="576072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395728"/>
            <a:ext cx="64008" cy="5760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50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6974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 rows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25054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user_id, eval_set, order_dow, order_hour, days_since_prior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044952"/>
            <a:ext cx="8595360" cy="576072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44952"/>
            <a:ext cx="64008" cy="5760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998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order_products__train.csv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3467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1.38M rows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3154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product_id, add_to_cart_order, reordered ← TARGET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694176"/>
            <a:ext cx="8595360" cy="576072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94176"/>
            <a:ext cx="64008" cy="5760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490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products.csv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39959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49,688 rows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0" y="38039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product_name, aisle_id, department_id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343400"/>
            <a:ext cx="8595360" cy="576072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343400"/>
            <a:ext cx="64008" cy="5760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982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aisles.csv + departments.csv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46451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/ 21 rows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0" y="44531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aisle/department name lookup tables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discovered from 3.4M orders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846320" y="10058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52044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3520440"/>
            <a:ext cx="64008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" y="35570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Peak Shopping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75488" y="3813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&amp; Monday drive 35% of all orders — weekend meal planning behaviour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74320" y="4270248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4320" y="4270248"/>
            <a:ext cx="64008" cy="6583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" y="43068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🕙 Peak Hour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75488" y="4562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peak 9AM–4PM. Users shop during work hours / lunch breaks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352044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3520440"/>
            <a:ext cx="64008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35570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Reorder Rate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64608" y="3813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59.9% of train-set products were reorders — strong signal for prediction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663440" y="4270248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0" y="4270248"/>
            <a:ext cx="64008" cy="6583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64608" y="43068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Order Cadence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64608" y="4562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7 days between orders. Most users shop weekly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Challenges &amp; Edge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— and how we handle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8892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161288"/>
            <a:ext cx="658368" cy="228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Class Imbalance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reordered vs 40% not — a naive model just predicts all reorders and gets 60% accuracy. We must use F1 / Precision@K and class_weight balancing.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8892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1161288"/>
            <a:ext cx="658368" cy="228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3756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Cold Start Users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50876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with &lt;3 orders have very sparse features. Model will underperform. Mitigation: fall back to global product popularity for these users.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0058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005840"/>
            <a:ext cx="278892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161288"/>
            <a:ext cx="658368" cy="228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Memory / Scale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50876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 orders × user-product pairs can create 200M+ rows. We use dtype optimization, chunked reads, and parquet format to stay under RAM limits.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29718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971800"/>
            <a:ext cx="278892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3127248"/>
            <a:ext cx="658368" cy="228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31272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Temporal Leakage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4747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must only use past orders, never the target order. We strictly separate prior eval_set from train eval_set during feature engineering.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71800"/>
            <a:ext cx="278892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0" y="3127248"/>
            <a:ext cx="658368" cy="228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1272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375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 Threshold Strategy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37560" y="34747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at 0.5 threshold is not optimal. We will tune threshold to maximise F1 on validation set or adjust to business K value.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72200" y="29718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2971800"/>
            <a:ext cx="278892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83880" y="3127248"/>
            <a:ext cx="658368" cy="22860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31272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093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Seasonal Drift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34747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habits change over time. Model trained on historical data may degrade. Future: retrain on rolling window of recent orders.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 (HLD)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and model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508760" cy="18745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143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6642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2494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CSV files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 orders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801368" y="1691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011680" y="1051560"/>
            <a:ext cx="1508760" cy="18745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143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16642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057400" y="22494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clean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 optimize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538728" y="1691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749040" y="1051560"/>
            <a:ext cx="1508760" cy="18745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143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16642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794760" y="22494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Product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276088" y="1691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5486400" y="1051560"/>
            <a:ext cx="1508760" cy="1874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143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16642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532120" y="22494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→ RF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XGBoost/LGBM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013448" y="1691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7223760" y="1051560"/>
            <a:ext cx="1508760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1430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9480" y="16642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UI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269480" y="22494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cart out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74320" y="3154680"/>
            <a:ext cx="4114800" cy="169164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4320" y="3154680"/>
            <a:ext cx="64008" cy="1691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0292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02920" y="36576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F1 Score — primary metric (handles imbalance)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02920" y="40233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Precision@5 — top-5 business relevance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02920" y="43891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Recall@K — coverage completeness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663440" y="3154680"/>
            <a:ext cx="4206240" cy="169164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663440" y="3154680"/>
            <a:ext cx="64008" cy="1691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89204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892040" y="365760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pandas / numpy  — data wrangling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892040" y="40233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scikit-learn / XGBoost / LightGBM  — modeling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4892040" y="438912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Streamlit  — interactive demo UI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 (LLD Draft)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list, preprocessing steps, model hypotheses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88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8892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155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5087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8745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avg_basket_size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24028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avg_days_between_orders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60604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preferred_dow / hour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97180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reorder_ratio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88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78892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1155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5087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total_order_count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8745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reorder_rate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24028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avg_add_to_cart_position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60604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unique_user_count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005840"/>
            <a:ext cx="2788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005840"/>
            <a:ext cx="278892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1155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× Product Interactions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81928" y="15087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purchase_count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18745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orders_since_last_purchase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81928" y="224028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1928" y="260604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avg_cart_position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703320"/>
            <a:ext cx="8732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703320"/>
            <a:ext cx="6400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67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Validation Strategy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1330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Missing values: days_since_prior_order → fill 0 for first orders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3342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Train/val split: last prior order per user held out as validation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5354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Imbalance: scale_pos_weight in XGBoost / class_weight='balanced' in LR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736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Text features (Phase 2): TF-IDF on product names → organic / gluten-free / etc.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baseline — the floor we need to beat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20040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554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Start Simple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Sets honest performance floor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Validates that features have signal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 to run — catches pipeline bugs early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1005840"/>
            <a:ext cx="150876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078992"/>
            <a:ext cx="1508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840480" y="1969618"/>
            <a:ext cx="150876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005840"/>
            <a:ext cx="150876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078992"/>
            <a:ext cx="1508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577840" y="1969618"/>
            <a:ext cx="150876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005840"/>
            <a:ext cx="150876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1078992"/>
            <a:ext cx="1508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315200" y="1969618"/>
            <a:ext cx="150876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8595360" cy="205740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88920"/>
            <a:ext cx="859536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07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Roadmap  (Advanced Modeling — April 18 Submission)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13258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F1 Score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Precision@5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Logistic Regression (Baseline)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~0.41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~0.44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✅ Done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TBD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TBD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🔄 In Progress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TBD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TBD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📅 Planned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LightGBM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TBD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TBD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📅 Planned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Evidence Trail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structure, commit hygiene, documentation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3840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 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retail-oracle/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data/raw/         ← CSVs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data/processed/   ← features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├── data_loader.py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├── feature_engineering.py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├── model.py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└── evaluate.py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docs/HLD.md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docs/LLD.md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app/streamlit_app.py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README.md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PROMPTS.md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64008" cy="3840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Evaluation Checklist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Repo created with correct structure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17922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Daily commits with meaningful messages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HLD.md written and committed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4140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LLD.md draft committed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7249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PROMPTS.md tracking AI usage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30358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requirements.txt present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33467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Modular .py files (not just notebook)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README with setup instructions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9684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EDA notebook with visualisations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4279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Baseline model committed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45902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Streamlit demo app (April 18)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→  April 18 Submission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today's foundation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14300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143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61848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features, TF-IDF on product names, recency weights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4160520" cy="114300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50008"/>
            <a:ext cx="64008" cy="1143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44144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441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291693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vs LightGBM vs RF — with full cross-validation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4160520" cy="114300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48456"/>
            <a:ext cx="64008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3989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7398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215384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decision threshold for best F1 / business Precision@K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160520" cy="114300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5156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143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161848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model fails — cold start, rare products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350008"/>
            <a:ext cx="4160520" cy="114300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350008"/>
            <a:ext cx="64008" cy="1143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44144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2441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73752" y="291693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User ID → predicted cart with confidence scores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48456"/>
            <a:ext cx="4160520" cy="1143000"/>
          </a:xfrm>
          <a:prstGeom prst="rect">
            <a:avLst/>
          </a:prstGeom>
          <a:solidFill>
            <a:srgbClr val="13203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48456"/>
            <a:ext cx="64008" cy="1143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73989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49240" y="37398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73752" y="4215384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model output into retailer action items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43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03120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828800" y="29718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—  Group 5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456432"/>
            <a:ext cx="2743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3611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28800" y="4553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Instacart Market Basket Analysis  |  kaggle.com/psparks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Oracle – Predictive Cart Intelligence</dc:title>
  <dc:subject>PptxGenJS Presentation</dc:subject>
  <dc:creator>PptxGenJS</dc:creator>
  <cp:lastModifiedBy>PptxGenJS</cp:lastModifiedBy>
  <cp:revision>1</cp:revision>
  <dcterms:created xsi:type="dcterms:W3CDTF">2026-04-09T15:55:40Z</dcterms:created>
  <dcterms:modified xsi:type="dcterms:W3CDTF">2026-04-09T15:55:40Z</dcterms:modified>
</cp:coreProperties>
</file>